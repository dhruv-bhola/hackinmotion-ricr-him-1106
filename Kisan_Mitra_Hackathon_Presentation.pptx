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502920"/>
            <a:ext cx="2057400" cy="2057400"/>
          </a:xfrm>
          <a:prstGeom prst="ellipse">
            <a:avLst/>
          </a:prstGeom>
          <a:solidFill>
            <a:srgbClr val="25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1005840"/>
            <a:ext cx="1005840" cy="1005840"/>
          </a:xfrm>
          <a:prstGeom prst="ellipse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32520" y="4251960"/>
            <a:ext cx="2834640" cy="1737360"/>
          </a:xfrm>
          <a:prstGeom prst="roundRect">
            <a:avLst/>
          </a:prstGeom>
          <a:solidFill>
            <a:srgbClr val="18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9034272" y="4572000"/>
            <a:ext cx="640080" cy="640080"/>
          </a:xfrm>
          <a:prstGeom prst="arc">
            <a:avLst/>
          </a:prstGeom>
          <a:noFill/>
          <a:ln w="25400">
            <a:solidFill>
              <a:srgbClr val="68A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9381744" y="4572000"/>
            <a:ext cx="640080" cy="640080"/>
          </a:xfrm>
          <a:prstGeom prst="arc">
            <a:avLst/>
          </a:prstGeom>
          <a:noFill/>
          <a:ln w="25400">
            <a:solidFill>
              <a:srgbClr val="68A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9729216" y="4572000"/>
            <a:ext cx="640080" cy="640080"/>
          </a:xfrm>
          <a:prstGeom prst="arc">
            <a:avLst/>
          </a:prstGeom>
          <a:noFill/>
          <a:ln w="25400">
            <a:solidFill>
              <a:srgbClr val="68A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10076688" y="4572000"/>
            <a:ext cx="640080" cy="640080"/>
          </a:xfrm>
          <a:prstGeom prst="arc">
            <a:avLst/>
          </a:prstGeom>
          <a:noFill/>
          <a:ln w="25400">
            <a:solidFill>
              <a:srgbClr val="68A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0424160" y="4572000"/>
            <a:ext cx="640080" cy="640080"/>
          </a:xfrm>
          <a:prstGeom prst="arc">
            <a:avLst/>
          </a:prstGeom>
          <a:noFill/>
          <a:ln w="25400">
            <a:solidFill>
              <a:srgbClr val="68A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71632" y="4572000"/>
            <a:ext cx="640080" cy="640080"/>
          </a:xfrm>
          <a:prstGeom prst="arc">
            <a:avLst/>
          </a:prstGeom>
          <a:noFill/>
          <a:ln w="25400">
            <a:solidFill>
              <a:srgbClr val="68A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02920"/>
            <a:ext cx="2743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96C44F"/>
                </a:solidFill>
                <a:latin typeface="Aptos"/>
              </a:rPr>
              <a:t>HACKATHON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932688"/>
            <a:ext cx="777240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Kisan Mitra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1783080"/>
            <a:ext cx="71323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DCEEDF"/>
                </a:solidFill>
                <a:latin typeface="Aptos"/>
              </a:rPr>
              <a:t>Smart Farm Decision Support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2468880"/>
            <a:ext cx="694944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From fragmented farm data to one clear answer:
“What should I do on my farm today?”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86200"/>
            <a:ext cx="4937760" cy="512064"/>
          </a:xfrm>
          <a:prstGeom prst="roundRect">
            <a:avLst/>
          </a:prstGeom>
          <a:solidFill>
            <a:srgbClr val="1F6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32504"/>
            <a:ext cx="44805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Data  →  Intelligence  → 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3840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CE5D2"/>
                </a:solidFill>
                <a:latin typeface="Aptos"/>
              </a:rPr>
              <a:t>Team Code: RICR-HIM-1106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50292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Dhruv Bhola (Leader)  •  Aditya Singh
Himani  •  Avni Jain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6144768"/>
            <a:ext cx="8961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BBD5C3"/>
                </a:solidFill>
                <a:latin typeface="Aptos"/>
              </a:rPr>
              <a:t>Smart farming should not mean more dashboards. It should mean better decisions.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3E3DB"/>
                </a:solidFill>
                <a:latin typeface="Aptos"/>
              </a:rPr>
              <a:t>KISAN MITRA  •  RICR-HIM-1106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D3E3D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3840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01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4839"/>
                </a:solidFill>
                <a:latin typeface="Aptos Display"/>
              </a:rPr>
              <a:t>Farmers have data. The hard part is deciding what to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99032"/>
            <a:ext cx="101498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77971"/>
                </a:solidFill>
                <a:latin typeface="Aptos"/>
              </a:rPr>
              <a:t>High-impact farm decisions are often made across fragmented sources.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267712"/>
            <a:ext cx="420624" cy="420624"/>
          </a:xfrm>
          <a:prstGeom prst="ellipse">
            <a:avLst/>
          </a:prstGeom>
          <a:solidFill>
            <a:srgbClr val="25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0428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1" y="2267712"/>
            <a:ext cx="24688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Crop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1" y="2715768"/>
            <a:ext cx="2468880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Which crop fits the farm, season and conditions?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5740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5152" y="2267712"/>
            <a:ext cx="420624" cy="420624"/>
          </a:xfrm>
          <a:prstGeom prst="ellipse">
            <a:avLst/>
          </a:prstGeom>
          <a:solidFill>
            <a:srgbClr val="4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30428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267712"/>
            <a:ext cx="24688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Irrigation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715768"/>
            <a:ext cx="2468880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Should I irrigate today or wait for rain?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57400"/>
            <a:ext cx="342900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2267712"/>
            <a:ext cx="420624" cy="420624"/>
          </a:xfrm>
          <a:prstGeom prst="ellipse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230428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267712"/>
            <a:ext cx="24688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Weather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715768"/>
            <a:ext cx="2468880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Could heat, heavy rain, wind or dryness damage the crop?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31920"/>
            <a:ext cx="53492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4142232"/>
            <a:ext cx="420624" cy="420624"/>
          </a:xfrm>
          <a:prstGeom prst="ellipse">
            <a:avLst/>
          </a:prstGeom>
          <a:solidFill>
            <a:srgbClr val="CB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17880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1" y="4142232"/>
            <a:ext cx="43891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Crop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4590288"/>
            <a:ext cx="4389120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Is a leaf symptom an early sign of disease or pest damage?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931920"/>
            <a:ext cx="53492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45152" y="4142232"/>
            <a:ext cx="420624" cy="420624"/>
          </a:xfrm>
          <a:prstGeom prst="ellipse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417880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4142232"/>
            <a:ext cx="43891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Market timing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4590288"/>
            <a:ext cx="4389120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Should I sell now or monitor prices for a better opportunity?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806440"/>
            <a:ext cx="10863072" cy="438912"/>
          </a:xfrm>
          <a:prstGeom prst="roundRect">
            <a:avLst/>
          </a:prstGeom>
          <a:solidFill>
            <a:srgbClr val="EFF5E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934456"/>
            <a:ext cx="104241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24839"/>
                </a:solidFill>
                <a:latin typeface="Aptos"/>
              </a:rPr>
              <a:t>Wrong timing can mean  water waste  •  crop damage  •  delayed disease response  •  poor selling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77971"/>
                </a:solidFill>
                <a:latin typeface="Aptos"/>
              </a:rPr>
              <a:t>KISAN MITRA  •  RICR-HIM-1106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7797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3840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02 — 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The goal is not to show more data. It is to convert data into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99032"/>
            <a:ext cx="101498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DBEBE0"/>
                </a:solidFill>
                <a:latin typeface="Aptos"/>
              </a:rPr>
              <a:t>Kisan Mitra is designed as a decision-support layer, not a collection of widgets.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84831"/>
            <a:ext cx="28346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96C44F"/>
                </a:solidFill>
                <a:latin typeface="Aptos"/>
              </a:rPr>
              <a:t>TODAY’S FARM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32304"/>
            <a:ext cx="640080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“What should I do on my farm today?”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703320"/>
            <a:ext cx="3291840" cy="1508760"/>
          </a:xfrm>
          <a:prstGeom prst="roundRect">
            <a:avLst/>
          </a:prstGeom>
          <a:solidFill>
            <a:srgbClr val="285847"/>
          </a:solidFill>
          <a:ln>
            <a:solidFill>
              <a:srgbClr val="487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913632"/>
            <a:ext cx="420624" cy="420624"/>
          </a:xfrm>
          <a:prstGeom prst="ellipse">
            <a:avLst/>
          </a:prstGeom>
          <a:solidFill>
            <a:srgbClr val="4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95020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913632"/>
            <a:ext cx="2331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 Display"/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361688"/>
            <a:ext cx="2331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E2ECE5"/>
                </a:solidFill>
                <a:latin typeface="Aptos"/>
              </a:rPr>
              <a:t>Weather, crop health &amp; market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160520"/>
            <a:ext cx="3200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96C44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3128" y="3703320"/>
            <a:ext cx="3291840" cy="1508760"/>
          </a:xfrm>
          <a:prstGeom prst="roundRect">
            <a:avLst/>
          </a:prstGeom>
          <a:solidFill>
            <a:srgbClr val="285847"/>
          </a:solidFill>
          <a:ln>
            <a:solidFill>
              <a:srgbClr val="487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63440" y="3913632"/>
            <a:ext cx="420624" cy="420624"/>
          </a:xfrm>
          <a:prstGeom prst="ellipse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95020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913632"/>
            <a:ext cx="2331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 Display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361688"/>
            <a:ext cx="2331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E2ECE5"/>
                </a:solidFill>
                <a:latin typeface="Aptos"/>
              </a:rPr>
              <a:t>Decision rules + AI-assisted screening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160520"/>
            <a:ext cx="3200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96C44F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3703320"/>
            <a:ext cx="3291840" cy="1508760"/>
          </a:xfrm>
          <a:prstGeom prst="roundRect">
            <a:avLst/>
          </a:prstGeom>
          <a:solidFill>
            <a:srgbClr val="285847"/>
          </a:solidFill>
          <a:ln>
            <a:solidFill>
              <a:srgbClr val="487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66760" y="3913632"/>
            <a:ext cx="420624" cy="420624"/>
          </a:xfrm>
          <a:prstGeom prst="ellipse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95020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913632"/>
            <a:ext cx="2331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 Display"/>
              </a:rPr>
              <a:t>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361688"/>
            <a:ext cx="2331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E2ECE5"/>
                </a:solidFill>
                <a:latin typeface="Aptos"/>
              </a:rPr>
              <a:t>Prioritized, farm-specific 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3E3DB"/>
                </a:solidFill>
                <a:latin typeface="Aptos"/>
              </a:rPr>
              <a:t>KISAN MITRA  •  RICR-HIM-1106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D3E3D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3840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03 — THE CORE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4839"/>
                </a:solidFill>
                <a:latin typeface="Aptos Display"/>
              </a:rPr>
              <a:t>One Decision Engine connects the farm’s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99032"/>
            <a:ext cx="101498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77971"/>
                </a:solidFill>
                <a:latin typeface="Aptos"/>
              </a:rPr>
              <a:t>The same farm profile gives context to weather, crop health and market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257860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176272"/>
            <a:ext cx="420624" cy="420624"/>
          </a:xfrm>
          <a:prstGeom prst="ellipse">
            <a:avLst/>
          </a:prstGeom>
          <a:solidFill>
            <a:srgbClr val="25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21284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176272"/>
            <a:ext cx="161848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FARM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624328"/>
            <a:ext cx="1618487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Location • land • soil • crop • growth stage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965960"/>
            <a:ext cx="257860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1024" y="2176272"/>
            <a:ext cx="420624" cy="420624"/>
          </a:xfrm>
          <a:prstGeom prst="ellipse">
            <a:avLst/>
          </a:prstGeom>
          <a:solidFill>
            <a:srgbClr val="4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221284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9664" y="2176272"/>
            <a:ext cx="161848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WEATHER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4" y="2624328"/>
            <a:ext cx="1618487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Rainfall • temperature • humidity • wind • 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1965960"/>
            <a:ext cx="257860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28816" y="2176272"/>
            <a:ext cx="420624" cy="420624"/>
          </a:xfrm>
          <a:prstGeom prst="ellipse">
            <a:avLst/>
          </a:prstGeom>
          <a:solidFill>
            <a:srgbClr val="CB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221284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2176272"/>
            <a:ext cx="161848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CROP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2624328"/>
            <a:ext cx="1618487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Leaf image • observations • AI screening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6296" y="1965960"/>
            <a:ext cx="257860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36608" y="2176272"/>
            <a:ext cx="420624" cy="420624"/>
          </a:xfrm>
          <a:prstGeom prst="ellipse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8" y="221284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176272"/>
            <a:ext cx="1618487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5248" y="2624328"/>
            <a:ext cx="1618487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Mandi prices • 7-day / 30-day trend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730752"/>
            <a:ext cx="3703320" cy="1078992"/>
          </a:xfrm>
          <a:prstGeom prst="roundRect">
            <a:avLst/>
          </a:prstGeom>
          <a:solidFill>
            <a:srgbClr val="124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3931920"/>
            <a:ext cx="33832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DECISION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4297680"/>
            <a:ext cx="31638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D4E8D8"/>
                </a:solidFill>
                <a:latin typeface="Aptos"/>
              </a:rPr>
              <a:t>Combines context + signals +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285232"/>
            <a:ext cx="25420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7" y="5486400"/>
            <a:ext cx="347472" cy="347472"/>
          </a:xfrm>
          <a:prstGeom prst="ellipse">
            <a:avLst/>
          </a:prstGeom>
          <a:solidFill>
            <a:srgbClr val="25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5568696"/>
            <a:ext cx="347472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5431536"/>
            <a:ext cx="170078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24839"/>
                </a:solidFill>
                <a:latin typeface="Aptos Display"/>
              </a:rPr>
              <a:t>IRRIGATION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5715000"/>
            <a:ext cx="170078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971"/>
                </a:solidFill>
                <a:latin typeface="Aptos"/>
              </a:rPr>
              <a:t>Delay / irrigate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11296" y="5285232"/>
            <a:ext cx="25420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94176" y="5486400"/>
            <a:ext cx="347472" cy="347472"/>
          </a:xfrm>
          <a:prstGeom prst="ellipse">
            <a:avLst/>
          </a:prstGeom>
          <a:solidFill>
            <a:srgbClr val="CB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94176" y="5568696"/>
            <a:ext cx="347472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51376" y="5431536"/>
            <a:ext cx="170078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24839"/>
                </a:solidFill>
                <a:latin typeface="Aptos Display"/>
              </a:rPr>
              <a:t>RISK ALERTS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51376" y="5715000"/>
            <a:ext cx="170078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971"/>
                </a:solidFill>
                <a:latin typeface="Aptos"/>
              </a:rPr>
              <a:t>Low / medium / high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64224" y="5285232"/>
            <a:ext cx="25420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47104" y="5486400"/>
            <a:ext cx="347472" cy="347472"/>
          </a:xfrm>
          <a:prstGeom prst="ellipse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47104" y="5568696"/>
            <a:ext cx="347472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04304" y="5431536"/>
            <a:ext cx="170078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24839"/>
                </a:solidFill>
                <a:latin typeface="Aptos Display"/>
              </a:rPr>
              <a:t>SELL / HOLD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04304" y="5715000"/>
            <a:ext cx="170078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971"/>
                </a:solidFill>
                <a:latin typeface="Aptos"/>
              </a:rPr>
              <a:t>Rising / stable / falling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17152" y="5285232"/>
            <a:ext cx="25420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00032" y="5486400"/>
            <a:ext cx="347472" cy="347472"/>
          </a:xfrm>
          <a:prstGeom prst="ellipse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0032" y="5568696"/>
            <a:ext cx="347472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5431536"/>
            <a:ext cx="170078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24839"/>
                </a:solidFill>
                <a:latin typeface="Aptos Display"/>
              </a:rPr>
              <a:t>TODAY’S 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57232" y="5715000"/>
            <a:ext cx="170078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971"/>
                </a:solidFill>
                <a:latin typeface="Aptos"/>
              </a:rPr>
              <a:t>Prioritized next steps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783080" y="3127248"/>
            <a:ext cx="4325112" cy="603504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90872" y="3127248"/>
            <a:ext cx="1417320" cy="603504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108192" y="3127248"/>
            <a:ext cx="1490472" cy="603504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6108192" y="3127248"/>
            <a:ext cx="4398264" cy="603504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920240" y="4809744"/>
            <a:ext cx="4187952" cy="475488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4773168" y="4809744"/>
            <a:ext cx="1335024" cy="475488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108192" y="4809744"/>
            <a:ext cx="1517904" cy="475488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108192" y="4809744"/>
            <a:ext cx="4370832" cy="475488"/>
          </a:xfrm>
          <a:prstGeom prst="line">
            <a:avLst/>
          </a:prstGeom>
          <a:ln w="1905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77971"/>
                </a:solidFill>
                <a:latin typeface="Aptos"/>
              </a:rPr>
              <a:t>KISAN MITRA  •  RICR-HIM-1106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7797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3840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04 — WHAT THE FARMER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4839"/>
                </a:solidFill>
                <a:latin typeface="Aptos Display"/>
              </a:rPr>
              <a:t>Five capabilities, one unified experience.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99032"/>
            <a:ext cx="101498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77971"/>
                </a:solidFill>
                <a:latin typeface="Aptos"/>
              </a:rPr>
              <a:t>Every module contributes to the final daily recommendation.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401568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221992"/>
            <a:ext cx="420624" cy="420624"/>
          </a:xfrm>
          <a:prstGeom prst="ellipse">
            <a:avLst/>
          </a:prstGeom>
          <a:solidFill>
            <a:srgbClr val="25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5856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1" y="2221992"/>
            <a:ext cx="24414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Farm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1" y="2670048"/>
            <a:ext cx="2441448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Personalized recommendations using location, land size, soil, crop and growth stage.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011680"/>
            <a:ext cx="3401568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2221992"/>
            <a:ext cx="420624" cy="420624"/>
          </a:xfrm>
          <a:prstGeom prst="ellipse">
            <a:avLst/>
          </a:prstGeom>
          <a:solidFill>
            <a:srgbClr val="4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5856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221992"/>
            <a:ext cx="24414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Weather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670048"/>
            <a:ext cx="2441448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Forecast signals translated into farming-relevant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2011680"/>
            <a:ext cx="3401568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5048" y="2221992"/>
            <a:ext cx="420624" cy="420624"/>
          </a:xfrm>
          <a:prstGeom prst="ellipse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25856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2221992"/>
            <a:ext cx="24414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Irrigation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670048"/>
            <a:ext cx="2441448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Rainfall, soil conditions, crop stage and ET drive timing recommendations.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13632"/>
            <a:ext cx="528523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4123944"/>
            <a:ext cx="420624" cy="420624"/>
          </a:xfrm>
          <a:prstGeom prst="ellipse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160520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1" y="4123944"/>
            <a:ext cx="432511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Weather Risk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4572000"/>
            <a:ext cx="432511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Heavy rain, heat, frost, wind, humidity and dryness classified into risk levels.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8" y="3913632"/>
            <a:ext cx="528523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17720" y="4123944"/>
            <a:ext cx="420624" cy="420624"/>
          </a:xfrm>
          <a:prstGeom prst="ellipse">
            <a:avLst/>
          </a:prstGeom>
          <a:solidFill>
            <a:srgbClr val="CB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160520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123944"/>
            <a:ext cx="4325112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Market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572000"/>
            <a:ext cx="432511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Current and historical mandi prices with rising / stable / falling trend signals.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77971"/>
                </a:solidFill>
                <a:latin typeface="Aptos"/>
              </a:rPr>
              <a:t>KISAN MITRA  •  RICR-HIM-1106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77971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3840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05 — AI CROP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A farmer can upload a leaf image for AI-assisted screening.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99032"/>
            <a:ext cx="101498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DBEBE0"/>
                </a:solidFill>
                <a:latin typeface="Aptos"/>
              </a:rPr>
              <a:t>The system returns an interpretable result with uncertainty—not a laboratory diagnosis.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965960"/>
            <a:ext cx="438912" cy="438912"/>
          </a:xfrm>
          <a:prstGeom prst="ellipse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24839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56816"/>
            <a:ext cx="2194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956816"/>
            <a:ext cx="28346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DCEBDF"/>
                </a:solidFill>
                <a:latin typeface="Aptos"/>
              </a:rPr>
              <a:t>Crop / leaf image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898648"/>
            <a:ext cx="438912" cy="438912"/>
          </a:xfrm>
          <a:prstGeom prst="ellipse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008376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24839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89504"/>
            <a:ext cx="2194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889504"/>
            <a:ext cx="28346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DCEBDF"/>
                </a:solidFill>
                <a:latin typeface="Aptos"/>
              </a:rPr>
              <a:t>Image + farmer description + crop info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831335"/>
            <a:ext cx="438912" cy="438912"/>
          </a:xfrm>
          <a:prstGeom prst="ellipse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3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24839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822191"/>
            <a:ext cx="2194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822191"/>
            <a:ext cx="28346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DCEBDF"/>
                </a:solidFill>
                <a:latin typeface="Aptos"/>
              </a:rPr>
              <a:t>Possible issue • confidence • severity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764024"/>
            <a:ext cx="438912" cy="438912"/>
          </a:xfrm>
          <a:prstGeom prst="ellipse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73752"/>
            <a:ext cx="438912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24839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754880"/>
            <a:ext cx="2194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 Display"/>
              </a:rP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754880"/>
            <a:ext cx="28346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DCEBDF"/>
                </a:solidFill>
                <a:latin typeface="Aptos"/>
              </a:rPr>
              <a:t>Next checks + recommended 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938528"/>
            <a:ext cx="4983480" cy="3566160"/>
          </a:xfrm>
          <a:prstGeom prst="roundRect">
            <a:avLst/>
          </a:prstGeom>
          <a:solidFill>
            <a:srgbClr val="275A48"/>
          </a:solidFill>
          <a:ln>
            <a:solidFill>
              <a:srgbClr val="497B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2240280"/>
            <a:ext cx="2377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SAMPLE SCREENING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2633472"/>
            <a:ext cx="3931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 Display"/>
              </a:rPr>
              <a:t>Possible fungal 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310128"/>
            <a:ext cx="12801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DCEBDF"/>
                </a:solidFill>
                <a:latin typeface="Aptos"/>
              </a:rPr>
              <a:t>Confidence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3328416"/>
            <a:ext cx="2697480" cy="146304"/>
          </a:xfrm>
          <a:prstGeom prst="roundRect">
            <a:avLst/>
          </a:prstGeom>
          <a:solidFill>
            <a:srgbClr val="4B6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73568" y="3328416"/>
            <a:ext cx="2104034" cy="146304"/>
          </a:xfrm>
          <a:prstGeom prst="roundRect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08208" y="3282696"/>
            <a:ext cx="38404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78%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4059936"/>
            <a:ext cx="12801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DCEBDF"/>
                </a:solidFill>
                <a:latin typeface="Aptos"/>
              </a:rPr>
              <a:t>Severity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3568" y="4078224"/>
            <a:ext cx="2697480" cy="146304"/>
          </a:xfrm>
          <a:prstGeom prst="roundRect">
            <a:avLst/>
          </a:prstGeom>
          <a:solidFill>
            <a:srgbClr val="4B6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73568" y="4078224"/>
            <a:ext cx="1483614" cy="146304"/>
          </a:xfrm>
          <a:prstGeom prst="roundRect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08208" y="4032504"/>
            <a:ext cx="38404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55%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4663440"/>
            <a:ext cx="12801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96C44F"/>
                </a:solidFill>
                <a:latin typeface="Aptos"/>
              </a:rPr>
              <a:t>Observations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4928616"/>
            <a:ext cx="416052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E6EFE7"/>
                </a:solidFill>
                <a:latin typeface="Aptos"/>
              </a:rPr>
              <a:t>Yellowing leaves • brown lesions
Next step: inspect lower leaves and field moisture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3E3DB"/>
                </a:solidFill>
                <a:latin typeface="Aptos"/>
              </a:rPr>
              <a:t>KISAN MITRA  •  RICR-HIM-1106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D3E3D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3840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06 — 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4839"/>
                </a:solidFill>
                <a:latin typeface="Aptos Display"/>
              </a:rPr>
              <a:t>Two engines turn forecasts into understandable farm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99032"/>
            <a:ext cx="101498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77971"/>
                </a:solidFill>
                <a:latin typeface="Aptos"/>
              </a:rPr>
              <a:t>The README defines lightweight decision logic suitable for rapid hackathon implementation.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93392"/>
            <a:ext cx="53492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49424"/>
            <a:ext cx="26517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24839"/>
                </a:solidFill>
                <a:latin typeface="Aptos Display"/>
              </a:rPr>
              <a:t>IRRIGATION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2402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C3F39"/>
                </a:solidFill>
                <a:latin typeface="Aptos"/>
              </a:rPr>
              <a:t>Rain expected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743200"/>
            <a:ext cx="3657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5784E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75887" y="2724912"/>
            <a:ext cx="1901952" cy="438912"/>
          </a:xfrm>
          <a:prstGeom prst="roundRect">
            <a:avLst/>
          </a:prstGeom>
          <a:solidFill>
            <a:srgbClr val="DFE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4" y="2834640"/>
            <a:ext cx="166420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24839"/>
                </a:solidFill>
                <a:latin typeface="Aptos"/>
              </a:rPr>
              <a:t>Delay irrigation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38728"/>
            <a:ext cx="22402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C3F39"/>
                </a:solidFill>
                <a:latin typeface="Aptos"/>
              </a:rPr>
              <a:t>Low rain + low soil moisture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538728"/>
            <a:ext cx="3657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96C44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5887" y="3520440"/>
            <a:ext cx="1901952" cy="438912"/>
          </a:xfrm>
          <a:prstGeom prst="roundRect">
            <a:avLst/>
          </a:prstGeom>
          <a:solidFill>
            <a:srgbClr val="DFE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3904" y="3630168"/>
            <a:ext cx="166420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24839"/>
                </a:solidFill>
                <a:latin typeface="Aptos"/>
              </a:rPr>
              <a:t>Irrigate soon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334256"/>
            <a:ext cx="22402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C3F39"/>
                </a:solidFill>
                <a:latin typeface="Aptos"/>
              </a:rPr>
              <a:t>High rainfall + adequate precipitation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334256"/>
            <a:ext cx="3657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4A7EA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75887" y="4315968"/>
            <a:ext cx="1901952" cy="438912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4" y="4425696"/>
            <a:ext cx="166420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24839"/>
                </a:solidFill>
                <a:latin typeface="Aptos"/>
              </a:rPr>
              <a:t>Do not irrigate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993392"/>
            <a:ext cx="5321808" cy="3566160"/>
          </a:xfrm>
          <a:prstGeom prst="roundRect">
            <a:avLst/>
          </a:prstGeom>
          <a:solidFill>
            <a:srgbClr val="124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249424"/>
            <a:ext cx="2926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 Display"/>
              </a:rPr>
              <a:t>WEATHER RISK ENGINE</a:t>
            </a:r>
          </a:p>
        </p:txBody>
      </p:sp>
      <p:sp>
        <p:nvSpPr>
          <p:cNvPr id="22" name="Oval 21"/>
          <p:cNvSpPr/>
          <p:nvPr/>
        </p:nvSpPr>
        <p:spPr>
          <a:xfrm>
            <a:off x="6510528" y="2788920"/>
            <a:ext cx="164592" cy="164592"/>
          </a:xfrm>
          <a:prstGeom prst="ellipse">
            <a:avLst/>
          </a:prstGeom>
          <a:solidFill>
            <a:srgbClr val="4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2770632"/>
            <a:ext cx="20116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2EEE5"/>
                </a:solidFill>
                <a:latin typeface="Aptos"/>
              </a:rPr>
              <a:t>Rain risk</a:t>
            </a:r>
          </a:p>
        </p:txBody>
      </p:sp>
      <p:sp>
        <p:nvSpPr>
          <p:cNvPr id="24" name="Oval 23"/>
          <p:cNvSpPr/>
          <p:nvPr/>
        </p:nvSpPr>
        <p:spPr>
          <a:xfrm>
            <a:off x="6510528" y="3291839"/>
            <a:ext cx="164592" cy="164592"/>
          </a:xfrm>
          <a:prstGeom prst="ellipse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1424" y="3273551"/>
            <a:ext cx="20116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2EEE5"/>
                </a:solidFill>
                <a:latin typeface="Aptos"/>
              </a:rPr>
              <a:t>Heat risk</a:t>
            </a:r>
          </a:p>
        </p:txBody>
      </p:sp>
      <p:sp>
        <p:nvSpPr>
          <p:cNvPr id="26" name="Oval 25"/>
          <p:cNvSpPr/>
          <p:nvPr/>
        </p:nvSpPr>
        <p:spPr>
          <a:xfrm>
            <a:off x="6510528" y="3794760"/>
            <a:ext cx="164592" cy="164592"/>
          </a:xfrm>
          <a:prstGeom prst="ellipse">
            <a:avLst/>
          </a:prstGeom>
          <a:solidFill>
            <a:srgbClr val="CB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1424" y="3776472"/>
            <a:ext cx="20116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2EEE5"/>
                </a:solidFill>
                <a:latin typeface="Aptos"/>
              </a:rPr>
              <a:t>Wind risk</a:t>
            </a:r>
          </a:p>
        </p:txBody>
      </p:sp>
      <p:sp>
        <p:nvSpPr>
          <p:cNvPr id="28" name="Oval 27"/>
          <p:cNvSpPr/>
          <p:nvPr/>
        </p:nvSpPr>
        <p:spPr>
          <a:xfrm>
            <a:off x="6510528" y="4297680"/>
            <a:ext cx="164592" cy="164592"/>
          </a:xfrm>
          <a:prstGeom prst="ellipse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1424" y="4279392"/>
            <a:ext cx="20116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2EEE5"/>
                </a:solidFill>
                <a:latin typeface="Aptos"/>
              </a:rPr>
              <a:t>Humidity / dryness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3611880"/>
            <a:ext cx="411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96C44F"/>
                </a:solidFill>
                <a:latin typeface="Aptos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25712" y="3273552"/>
            <a:ext cx="1737360" cy="1298448"/>
          </a:xfrm>
          <a:prstGeom prst="roundRect">
            <a:avLst/>
          </a:prstGeom>
          <a:solidFill>
            <a:srgbClr val="28684D"/>
          </a:solidFill>
          <a:ln>
            <a:solidFill>
              <a:srgbClr val="568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592" y="3493008"/>
            <a:ext cx="13716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96C44F"/>
                </a:solidFill>
                <a:latin typeface="Aptos"/>
              </a:rPr>
              <a:t>RISK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3813048"/>
            <a:ext cx="13716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LOW
MEDIUM
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992624"/>
            <a:ext cx="43891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D3E5D8"/>
                </a:solidFill>
                <a:latin typeface="Aptos"/>
              </a:rPr>
              <a:t>Same idea: many signals → one interpretable status.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77971"/>
                </a:solidFill>
                <a:latin typeface="Aptos"/>
              </a:rPr>
              <a:t>KISAN MITRA  •  RICR-HIM-1106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77971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3840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07 —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4839"/>
                </a:solidFill>
                <a:latin typeface="Aptos Display"/>
              </a:rPr>
              <a:t>Mobile-first frontend, secure data layer, APIs and multimodal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99032"/>
            <a:ext cx="101498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77971"/>
                </a:solidFill>
                <a:latin typeface="Aptos"/>
              </a:rPr>
              <a:t>A modular architecture keeps the decision engine independent from individual data sources.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1088136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12848"/>
            <a:ext cx="33832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FARMER / MOBILE OR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212848"/>
            <a:ext cx="52120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2C3F39"/>
                </a:solidFill>
                <a:latin typeface="Aptos"/>
              </a:rPr>
              <a:t>Next.js + React  •  Tailwind CSS  •  shadcn/ui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6324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282696"/>
            <a:ext cx="257860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5784E"/>
                </a:solidFill>
                <a:latin typeface="Aptos Display"/>
              </a:rPr>
              <a:t>SUPABASE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657600"/>
            <a:ext cx="25786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2C3F39"/>
                </a:solidFill>
                <a:latin typeface="Aptos"/>
              </a:rPr>
              <a:t>Auth • PostgreSQL •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58768" y="306324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59" y="3282696"/>
            <a:ext cx="257860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4A7EA8"/>
                </a:solidFill>
                <a:latin typeface="Aptos Display"/>
              </a:rPr>
              <a:t>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657600"/>
            <a:ext cx="25786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2C3F39"/>
                </a:solidFill>
                <a:latin typeface="Aptos"/>
              </a:rPr>
              <a:t>Next.js API routes /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4927" y="306324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3282696"/>
            <a:ext cx="2578608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CB4F3D"/>
                </a:solidFill>
                <a:latin typeface="Aptos Display"/>
              </a:rPr>
              <a:t>GEMINI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3657600"/>
            <a:ext cx="257860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2C3F39"/>
                </a:solidFill>
                <a:latin typeface="Aptos"/>
              </a:rPr>
              <a:t>Multimodal crop screening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4700016"/>
            <a:ext cx="2834640" cy="960120"/>
          </a:xfrm>
          <a:prstGeom prst="roundRect">
            <a:avLst/>
          </a:prstGeom>
          <a:solidFill>
            <a:srgbClr val="EFF5E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910328"/>
            <a:ext cx="257860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4A7EA8"/>
                </a:solidFill>
                <a:latin typeface="Aptos Display"/>
              </a:rPr>
              <a:t>OPEN-METEO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239512"/>
            <a:ext cx="2578608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2C3F39"/>
                </a:solidFill>
                <a:latin typeface="Aptos"/>
              </a:rPr>
              <a:t>Forecast + ET + rainfall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4700016"/>
            <a:ext cx="2834640" cy="960120"/>
          </a:xfrm>
          <a:prstGeom prst="roundRect">
            <a:avLst/>
          </a:prstGeom>
          <a:solidFill>
            <a:srgbClr val="EFF5E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14215" y="4910328"/>
            <a:ext cx="257860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EB9741"/>
                </a:solidFill>
                <a:latin typeface="Aptos Display"/>
              </a:rPr>
              <a:t>OGD / AGMARKNET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4215" y="5239512"/>
            <a:ext cx="2578608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2C3F39"/>
                </a:solidFill>
                <a:latin typeface="Aptos"/>
              </a:rPr>
              <a:t>Indian mandi prices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67728" y="4700016"/>
            <a:ext cx="2834640" cy="960120"/>
          </a:xfrm>
          <a:prstGeom prst="roundRect">
            <a:avLst/>
          </a:prstGeom>
          <a:solidFill>
            <a:srgbClr val="EFF5E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5744" y="4910328"/>
            <a:ext cx="257860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96C44F"/>
                </a:solidFill>
                <a:latin typeface="Aptos Display"/>
              </a:rPr>
              <a:t>DECISION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5239512"/>
            <a:ext cx="2578608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2C3F39"/>
                </a:solidFill>
                <a:latin typeface="Aptos"/>
              </a:rPr>
              <a:t>Irrigation + risk + actions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2752344"/>
            <a:ext cx="0" cy="310896"/>
          </a:xfrm>
          <a:prstGeom prst="line">
            <a:avLst/>
          </a:prstGeom>
          <a:ln w="2540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103120" y="4160520"/>
            <a:ext cx="0" cy="539496"/>
          </a:xfrm>
          <a:prstGeom prst="line">
            <a:avLst/>
          </a:prstGeom>
          <a:ln w="2540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03520" y="4160520"/>
            <a:ext cx="0" cy="539496"/>
          </a:xfrm>
          <a:prstGeom prst="line">
            <a:avLst/>
          </a:prstGeom>
          <a:ln w="2540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321040" y="4160520"/>
            <a:ext cx="566928" cy="539496"/>
          </a:xfrm>
          <a:prstGeom prst="line">
            <a:avLst/>
          </a:prstGeom>
          <a:ln w="25400">
            <a:solidFill>
              <a:srgbClr val="D2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77971"/>
                </a:solidFill>
                <a:latin typeface="Aptos"/>
              </a:rPr>
              <a:t>KISAN MITRA  •  RICR-HIM-1106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7797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3840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08 —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Built with a practical, hackathon-friendly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99032"/>
            <a:ext cx="101498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DBEBE0"/>
                </a:solidFill>
                <a:latin typeface="Aptos"/>
              </a:rPr>
              <a:t>The architecture prioritizes fast iteration, modularity and deployability.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423160" cy="1426464"/>
          </a:xfrm>
          <a:prstGeom prst="roundRect">
            <a:avLst/>
          </a:prstGeom>
          <a:solidFill>
            <a:srgbClr val="275A48"/>
          </a:solidFill>
          <a:ln>
            <a:solidFill>
              <a:srgbClr val="487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267712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560320"/>
            <a:ext cx="2084831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Next.js
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182111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D2E6DA"/>
                </a:solidFill>
                <a:latin typeface="Aptos"/>
              </a:rPr>
              <a:t>UI &amp;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1" y="2103120"/>
            <a:ext cx="2423160" cy="1426464"/>
          </a:xfrm>
          <a:prstGeom prst="roundRect">
            <a:avLst/>
          </a:prstGeom>
          <a:solidFill>
            <a:srgbClr val="275A48"/>
          </a:solidFill>
          <a:ln>
            <a:solidFill>
              <a:srgbClr val="487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3" y="2267712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3" y="2560320"/>
            <a:ext cx="2084831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Next.js API
Server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3" y="3182111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D2E6DA"/>
                </a:solidFill>
                <a:latin typeface="Aptos"/>
              </a:rPr>
              <a:t>Business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103120"/>
            <a:ext cx="2423160" cy="1426464"/>
          </a:xfrm>
          <a:prstGeom prst="roundRect">
            <a:avLst/>
          </a:prstGeom>
          <a:solidFill>
            <a:srgbClr val="275A48"/>
          </a:solidFill>
          <a:ln>
            <a:solidFill>
              <a:srgbClr val="487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267712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560320"/>
            <a:ext cx="2084831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Supabase
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182111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D2E6DA"/>
                </a:solidFill>
                <a:latin typeface="Aptos"/>
              </a:rPr>
              <a:t>Auth +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2103120"/>
            <a:ext cx="2423160" cy="1426464"/>
          </a:xfrm>
          <a:prstGeom prst="roundRect">
            <a:avLst/>
          </a:prstGeom>
          <a:solidFill>
            <a:srgbClr val="275A48"/>
          </a:solidFill>
          <a:ln>
            <a:solidFill>
              <a:srgbClr val="487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7" y="2267712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7" y="2560320"/>
            <a:ext cx="2084831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Gemini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7" y="3182111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D2E6DA"/>
                </a:solidFill>
                <a:latin typeface="Aptos"/>
              </a:rPr>
              <a:t>Vision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31920"/>
            <a:ext cx="2423160" cy="1426464"/>
          </a:xfrm>
          <a:prstGeom prst="roundRect">
            <a:avLst/>
          </a:prstGeom>
          <a:solidFill>
            <a:srgbClr val="275A48"/>
          </a:solidFill>
          <a:ln>
            <a:solidFill>
              <a:srgbClr val="487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4096511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WEATHER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389120"/>
            <a:ext cx="2084831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Open-Meteo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5010912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D2E6DA"/>
                </a:solidFill>
                <a:latin typeface="Aptos"/>
              </a:rPr>
              <a:t>Forecast signals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0711" y="3931920"/>
            <a:ext cx="2423160" cy="1426464"/>
          </a:xfrm>
          <a:prstGeom prst="roundRect">
            <a:avLst/>
          </a:prstGeom>
          <a:solidFill>
            <a:srgbClr val="275A48"/>
          </a:solidFill>
          <a:ln>
            <a:solidFill>
              <a:srgbClr val="487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3" y="4096511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3" y="4389120"/>
            <a:ext cx="2084831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OGD / AGMARKNET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5303" y="5010912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D2E6DA"/>
                </a:solidFill>
                <a:latin typeface="Aptos"/>
              </a:rPr>
              <a:t>Mandi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3931920"/>
            <a:ext cx="2423160" cy="1426464"/>
          </a:xfrm>
          <a:prstGeom prst="roundRect">
            <a:avLst/>
          </a:prstGeom>
          <a:solidFill>
            <a:srgbClr val="275A48"/>
          </a:solidFill>
          <a:ln>
            <a:solidFill>
              <a:srgbClr val="487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5936" y="4096511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VISUALS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4389120"/>
            <a:ext cx="2084831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Recharts
Leaflet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5010912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D2E6DA"/>
                </a:solidFill>
                <a:latin typeface="Aptos"/>
              </a:rPr>
              <a:t>Charts + maps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1976" y="3931920"/>
            <a:ext cx="2423160" cy="1426464"/>
          </a:xfrm>
          <a:prstGeom prst="roundRect">
            <a:avLst/>
          </a:prstGeom>
          <a:solidFill>
            <a:srgbClr val="275A48"/>
          </a:solidFill>
          <a:ln>
            <a:solidFill>
              <a:srgbClr val="487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16567" y="4096511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6567" y="4389120"/>
            <a:ext cx="2084831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GitHub → Vercel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7" y="5010912"/>
            <a:ext cx="2084831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D2E6DA"/>
                </a:solidFill>
                <a:latin typeface="Aptos"/>
              </a:rPr>
              <a:t>Delivery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3E3DB"/>
                </a:solidFill>
                <a:latin typeface="Aptos"/>
              </a:rPr>
              <a:t>KISAN MITRA  •  RICR-HIM-1106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D3E3D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3840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09 — DEMO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4839"/>
                </a:solidFill>
                <a:latin typeface="Aptos Display"/>
              </a:rPr>
              <a:t>A farmer sees the answer in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99032"/>
            <a:ext cx="101498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77971"/>
                </a:solidFill>
                <a:latin typeface="Aptos"/>
              </a:rPr>
              <a:t>Example journey from the README: Karnal, Haryana • 5 acres • loamy soil • wheat • tillering stage.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84831"/>
            <a:ext cx="33832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295144"/>
            <a:ext cx="420624" cy="420624"/>
          </a:xfrm>
          <a:prstGeom prst="ellipse">
            <a:avLst/>
          </a:prstGeom>
          <a:solidFill>
            <a:srgbClr val="25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1" y="2295144"/>
            <a:ext cx="2423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SET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1" y="2743200"/>
            <a:ext cx="242316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Create account + farm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084831"/>
            <a:ext cx="33832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1144" y="2295144"/>
            <a:ext cx="420624" cy="420624"/>
          </a:xfrm>
          <a:prstGeom prst="ellipse">
            <a:avLst/>
          </a:prstGeom>
          <a:solidFill>
            <a:srgbClr val="4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2331720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295144"/>
            <a:ext cx="2423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READ WEATHER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743200"/>
            <a:ext cx="242316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Fetch forecast signals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084831"/>
            <a:ext cx="33832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11896" y="2295144"/>
            <a:ext cx="420624" cy="420624"/>
          </a:xfrm>
          <a:prstGeom prst="ellipse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331720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0536" y="2295144"/>
            <a:ext cx="2423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2743200"/>
            <a:ext cx="242316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Irrigation + risk engines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59352"/>
            <a:ext cx="33832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4169664"/>
            <a:ext cx="420624" cy="420624"/>
          </a:xfrm>
          <a:prstGeom prst="ellipse">
            <a:avLst/>
          </a:prstGeom>
          <a:solidFill>
            <a:srgbClr val="CB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206240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1" y="4169664"/>
            <a:ext cx="2423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CHECK CROP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4617720"/>
            <a:ext cx="242316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Upload leaf image for screening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959352"/>
            <a:ext cx="33832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81144" y="4169664"/>
            <a:ext cx="420624" cy="420624"/>
          </a:xfrm>
          <a:prstGeom prst="ellipse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4206240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9784" y="4169664"/>
            <a:ext cx="2423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CHECK MARKET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4" y="4617720"/>
            <a:ext cx="242316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View wheat trend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3959352"/>
            <a:ext cx="33832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4169664"/>
            <a:ext cx="420624" cy="420624"/>
          </a:xfrm>
          <a:prstGeom prst="ellipse">
            <a:avLst/>
          </a:prstGeom>
          <a:solidFill>
            <a:srgbClr val="124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4206240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0536" y="4169664"/>
            <a:ext cx="2423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0536" y="4617720"/>
            <a:ext cx="242316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See today’s prioritized actions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715000"/>
            <a:ext cx="10881360" cy="512064"/>
          </a:xfrm>
          <a:prstGeom prst="roundRect">
            <a:avLst/>
          </a:prstGeom>
          <a:solidFill>
            <a:srgbClr val="124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5879592"/>
            <a:ext cx="104698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TODAY  →  Don’t irrigate  •  Inspect crop health  •  Monitor wheat price trend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77971"/>
                </a:solidFill>
                <a:latin typeface="Aptos"/>
              </a:rPr>
              <a:t>KISAN MITRA  •  RICR-HIM-1106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7797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3840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10 — WHY KISAN MITRA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Information is useful. Decision-ready information is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99032"/>
            <a:ext cx="101498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DBEBE0"/>
                </a:solidFill>
                <a:latin typeface="Aptos"/>
              </a:rPr>
              <a:t>Our core differentiator is the translation layer between raw signals and practical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3108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BCD5C5"/>
                </a:solidFill>
                <a:latin typeface="Aptos"/>
              </a:rPr>
              <a:t>TRADITIONAL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2" y="2039112"/>
            <a:ext cx="3108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96C44F"/>
                </a:solidFill>
                <a:latin typeface="Aptos"/>
              </a:rPr>
              <a:t>KISAN MITRA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578608"/>
            <a:ext cx="4864608" cy="749808"/>
          </a:xfrm>
          <a:prstGeom prst="roundRect">
            <a:avLst/>
          </a:prstGeom>
          <a:solidFill>
            <a:srgbClr val="27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834639"/>
            <a:ext cx="4389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DEEAE0"/>
                </a:solidFill>
                <a:latin typeface="Aptos"/>
              </a:rPr>
              <a:t>Rain probability: 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5584" y="2807208"/>
            <a:ext cx="3840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96C44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578608"/>
            <a:ext cx="4956048" cy="749808"/>
          </a:xfrm>
          <a:prstGeom prst="roundRect">
            <a:avLst/>
          </a:prstGeom>
          <a:solidFill>
            <a:srgbClr val="28684D"/>
          </a:solidFill>
          <a:ln>
            <a:solidFill>
              <a:srgbClr val="509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743200"/>
            <a:ext cx="449884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Don’t irrigate today — significant rain is expected.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621024"/>
            <a:ext cx="4864608" cy="749808"/>
          </a:xfrm>
          <a:prstGeom prst="roundRect">
            <a:avLst/>
          </a:prstGeom>
          <a:solidFill>
            <a:srgbClr val="27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877056"/>
            <a:ext cx="4389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DEEAE0"/>
                </a:solidFill>
                <a:latin typeface="Aptos"/>
              </a:rPr>
              <a:t>Temperature: 36°C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3849624"/>
            <a:ext cx="3840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96C44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3621024"/>
            <a:ext cx="4956048" cy="749808"/>
          </a:xfrm>
          <a:prstGeom prst="roundRect">
            <a:avLst/>
          </a:prstGeom>
          <a:solidFill>
            <a:srgbClr val="28684D"/>
          </a:solidFill>
          <a:ln>
            <a:solidFill>
              <a:srgbClr val="509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785615"/>
            <a:ext cx="449884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Heat risk is high — monitor crop stress.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663440"/>
            <a:ext cx="4864608" cy="749808"/>
          </a:xfrm>
          <a:prstGeom prst="roundRect">
            <a:avLst/>
          </a:prstGeom>
          <a:solidFill>
            <a:srgbClr val="27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919472"/>
            <a:ext cx="4389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DEEAE0"/>
                </a:solidFill>
                <a:latin typeface="Aptos"/>
              </a:rPr>
              <a:t>Wheat price: ₹2,420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5584" y="4892040"/>
            <a:ext cx="384048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96C44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663440"/>
            <a:ext cx="4956048" cy="749808"/>
          </a:xfrm>
          <a:prstGeom prst="roundRect">
            <a:avLst/>
          </a:prstGeom>
          <a:solidFill>
            <a:srgbClr val="28684D"/>
          </a:solidFill>
          <a:ln>
            <a:solidFill>
              <a:srgbClr val="509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828031"/>
            <a:ext cx="4498848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Price trend is rising — monitor before selling.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5715000"/>
            <a:ext cx="10469880" cy="484632"/>
          </a:xfrm>
          <a:prstGeom prst="roundRect">
            <a:avLst/>
          </a:prstGeom>
          <a:solidFill>
            <a:srgbClr val="29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843016"/>
            <a:ext cx="10104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96C44F"/>
                </a:solidFill>
                <a:latin typeface="Aptos"/>
              </a:rPr>
              <a:t>THE PRINCIPLE:   DATA  →  INTELLIGENCE  → 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3E3DB"/>
                </a:solidFill>
                <a:latin typeface="Aptos"/>
              </a:rPr>
              <a:t>KISAN MITRA  •  RICR-HIM-1106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D3E3D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38404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96C44F"/>
                </a:solidFill>
                <a:latin typeface="Aptos"/>
              </a:rPr>
              <a:t>11 — 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68096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24839"/>
                </a:solidFill>
                <a:latin typeface="Aptos Display"/>
              </a:rPr>
              <a:t>From a decision dashboard to a personalized digital farming advisor.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399032"/>
            <a:ext cx="1014984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677971"/>
                </a:solidFill>
                <a:latin typeface="Aptos"/>
              </a:rPr>
              <a:t>The architecture leaves room for regional-language, voice and offline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3832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267712"/>
            <a:ext cx="420624" cy="420624"/>
          </a:xfrm>
          <a:prstGeom prst="ellipse">
            <a:avLst/>
          </a:prstGeom>
          <a:solidFill>
            <a:srgbClr val="257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0428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1" y="2267712"/>
            <a:ext cx="2423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Crop 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1" y="2715768"/>
            <a:ext cx="242316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Location + soil + season + water + suitability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057400"/>
            <a:ext cx="33832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1144" y="2267712"/>
            <a:ext cx="420624" cy="420624"/>
          </a:xfrm>
          <a:prstGeom prst="ellipse">
            <a:avLst/>
          </a:prstGeom>
          <a:solidFill>
            <a:srgbClr val="4A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230428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2267712"/>
            <a:ext cx="2423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Voice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715768"/>
            <a:ext cx="242316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Regional-language questions and answers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057400"/>
            <a:ext cx="33832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11896" y="2267712"/>
            <a:ext cx="420624" cy="420624"/>
          </a:xfrm>
          <a:prstGeom prst="ellipse">
            <a:avLst/>
          </a:prstGeom>
          <a:solidFill>
            <a:srgbClr val="CB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304288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0536" y="2267712"/>
            <a:ext cx="2423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Community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2715768"/>
            <a:ext cx="242316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Nearby crop-health reports as outbreak signals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04487"/>
            <a:ext cx="33832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" y="4114800"/>
            <a:ext cx="420624" cy="420624"/>
          </a:xfrm>
          <a:prstGeom prst="ellipse">
            <a:avLst/>
          </a:prstGeom>
          <a:solidFill>
            <a:srgbClr val="EB9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151375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1" y="4114800"/>
            <a:ext cx="2423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Resource 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1" y="4562855"/>
            <a:ext cx="242316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Fertilizer and nutrient-aware recommendations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904487"/>
            <a:ext cx="33832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81144" y="4114800"/>
            <a:ext cx="420624" cy="420624"/>
          </a:xfrm>
          <a:prstGeom prst="ellipse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4151375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9784" y="4114800"/>
            <a:ext cx="2423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Yield 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4" y="4562855"/>
            <a:ext cx="242316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Weather + health + soil + historical yield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3" y="3904487"/>
            <a:ext cx="338328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4114800"/>
            <a:ext cx="420624" cy="420624"/>
          </a:xfrm>
          <a:prstGeom prst="ellipse">
            <a:avLst/>
          </a:prstGeom>
          <a:solidFill>
            <a:srgbClr val="124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4151375"/>
            <a:ext cx="420624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0536" y="4114800"/>
            <a:ext cx="24231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24839"/>
                </a:solidFill>
                <a:latin typeface="Aptos Display"/>
              </a:rPr>
              <a:t>Offline First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0536" y="4562855"/>
            <a:ext cx="2423160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rmAutofit/>
          </a:bodyPr>
          <a:lstStyle/>
          <a:p>
            <a:pPr algn="l"/>
            <a:r>
              <a:rPr sz="1100" b="0">
                <a:solidFill>
                  <a:srgbClr val="2C3F39"/>
                </a:solidFill>
                <a:latin typeface="Aptos"/>
              </a:rPr>
              <a:t>Cache key information and sync later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852160"/>
            <a:ext cx="1069848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24839"/>
                </a:solidFill>
                <a:latin typeface="Aptos"/>
              </a:rPr>
              <a:t>Long-term vision: regional, proactive and farmer-friendly.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77971"/>
                </a:solidFill>
                <a:latin typeface="Aptos"/>
              </a:rPr>
              <a:t>KISAN MITRA  •  RICR-HIM-1106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7797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8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1148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96C44F"/>
                </a:solidFill>
                <a:latin typeface="Aptos"/>
              </a:rPr>
              <a:t>KISAN MITRA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52144"/>
            <a:ext cx="7589520" cy="1828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Know your farm.
Understand the risk.
Make the right decision at the right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529584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BBD6C4"/>
                </a:solidFill>
                <a:latin typeface="Aptos"/>
              </a:rPr>
              <a:t>Team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822191"/>
            <a:ext cx="347472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96C44F"/>
                </a:solidFill>
                <a:latin typeface="Aptos Display"/>
              </a:rPr>
              <a:t>RICR-HIM-1106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4507992"/>
            <a:ext cx="9144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BD6C4"/>
                </a:solidFill>
                <a:latin typeface="Aptos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800600"/>
            <a:ext cx="4480560" cy="10515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Dhruv Bhola  —  Leader
Aditya Singh
Himani
Avni Jain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188720"/>
            <a:ext cx="2926080" cy="2926080"/>
          </a:xfrm>
          <a:prstGeom prst="roundRect">
            <a:avLst/>
          </a:prstGeom>
          <a:solidFill>
            <a:srgbClr val="27684D"/>
          </a:solidFill>
          <a:ln>
            <a:solidFill>
              <a:srgbClr val="579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98864" y="2606040"/>
            <a:ext cx="320040" cy="1060704"/>
          </a:xfrm>
          <a:prstGeom prst="roundRect">
            <a:avLst/>
          </a:prstGeom>
          <a:solidFill>
            <a:srgbClr val="96C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67344" y="2148840"/>
            <a:ext cx="731520" cy="731520"/>
          </a:xfrm>
          <a:prstGeom prst="ellipse">
            <a:avLst/>
          </a:prstGeom>
          <a:solidFill>
            <a:srgbClr val="74A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65208" y="2057400"/>
            <a:ext cx="731520" cy="731520"/>
          </a:xfrm>
          <a:prstGeom prst="ellipse">
            <a:avLst/>
          </a:prstGeom>
          <a:solidFill>
            <a:srgbClr val="74A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13648" y="3127248"/>
            <a:ext cx="731520" cy="731520"/>
          </a:xfrm>
          <a:prstGeom prst="ellipse">
            <a:avLst/>
          </a:prstGeom>
          <a:solidFill>
            <a:srgbClr val="74A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82912" y="3017520"/>
            <a:ext cx="731520" cy="731520"/>
          </a:xfrm>
          <a:prstGeom prst="ellipse">
            <a:avLst/>
          </a:prstGeom>
          <a:solidFill>
            <a:srgbClr val="74A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4443984"/>
            <a:ext cx="26974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956048"/>
            <a:ext cx="2423160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D3E8D8"/>
                </a:solidFill>
                <a:latin typeface="Aptos"/>
              </a:rPr>
              <a:t>Questions &amp;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4754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3E3DB"/>
                </a:solidFill>
                <a:latin typeface="Aptos"/>
              </a:rPr>
              <a:t>KISAN MITRA  •  RICR-HIM-1106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D3E3D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