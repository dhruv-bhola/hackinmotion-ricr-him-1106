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1"/>
  </p:notesMasterIdLst>
  <p:sldIdLst>
    <p:sldId id="256" r:id="rId3"/>
    <p:sldId id="257" r:id="rId4"/>
    <p:sldId id="263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16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KISAN MITRA  •  RICR-HIM-1106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FARM DECISION SUPPORT SYSTEM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0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0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1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55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05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2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7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5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41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86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7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55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7223760" cy="6254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09728"/>
            <a:ext cx="4967935" cy="6254496"/>
          </a:xfrm>
          <a:prstGeom prst="rect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FARM DECISION SUPPORT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11556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Kisan Mitra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19751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fragmented farm data to better decision making: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340864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should I do on my farm today?”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3310128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319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78992" y="3502152"/>
            <a:ext cx="1371600" cy="0"/>
          </a:xfrm>
          <a:prstGeom prst="line">
            <a:avLst/>
          </a:prstGeom>
          <a:noFill/>
          <a:ln w="20320">
            <a:solidFill>
              <a:srgbClr val="1457A6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505456" y="3310128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3319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5456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3502152"/>
            <a:ext cx="1371600" cy="0"/>
          </a:xfrm>
          <a:prstGeom prst="line">
            <a:avLst/>
          </a:prstGeom>
          <a:noFill/>
          <a:ln w="20320">
            <a:solidFill>
              <a:srgbClr val="1457A6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4352544" y="3310128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2544" y="3319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52544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4892040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91947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CODE: RICR-HIM-1106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53583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Dhruv Bhola  •  Aditya Singh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56692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Himani  •  Avni Jain</a:t>
            </a:r>
            <a:endParaRPr lang="en-US" sz="1150" b="1" dirty="0"/>
          </a:p>
        </p:txBody>
      </p:sp>
      <p:sp>
        <p:nvSpPr>
          <p:cNvPr id="23" name="Text 21"/>
          <p:cNvSpPr/>
          <p:nvPr/>
        </p:nvSpPr>
        <p:spPr>
          <a:xfrm>
            <a:off x="7818120" y="9144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FARM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81812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decision layer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four signals.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818120" y="2971800"/>
            <a:ext cx="352044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30540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144000" y="30540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irrigation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18120" y="3685032"/>
            <a:ext cx="352044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37673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HEALTH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9144000" y="3767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leaves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18120" y="4398264"/>
            <a:ext cx="352044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44805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9144000" y="4480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prices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18120" y="5111496"/>
            <a:ext cx="352044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51937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 PROFILE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9144000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context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201400" y="58978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40" name="Picture 39" descr="7bf62b16-bcef-4bd7-9043-d3ddf97fe7fb.png">
            <a:extLst>
              <a:ext uri="{FF2B5EF4-FFF2-40B4-BE49-F238E27FC236}">
                <a16:creationId xmlns:a16="http://schemas.microsoft.com/office/drawing/2014/main" id="{AB7E354D-36B9-7266-0500-9F4D8EEFE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487" y="4194315"/>
            <a:ext cx="3115361" cy="24350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have data. The hard part is making the right decision on time.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 is not a lack of information — it is fragmented information that arrives without clear 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9424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58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2121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choice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38658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/>
              <a:t>Which crop is best suited to the farm, season, and local conditions?</a:t>
            </a:r>
            <a:endParaRPr lang="en-US" sz="1050" dirty="0">
              <a:solidFill>
                <a:srgbClr val="2C3F39"/>
              </a:solidFill>
            </a:endParaRPr>
          </a:p>
          <a:p>
            <a:pPr marL="0" indent="0" algn="l">
              <a:buNone/>
            </a:pP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58368" y="3136392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1290000" dist="645160000" algn="bl" rotWithShape="0">
              <a:srgbClr val="AAB7C4">
                <a:alpha val="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392424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01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264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Irrigation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52958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/>
              <a:t>When should the farmer irrigate—or wait for rain?</a:t>
            </a:r>
            <a:endParaRPr lang="en-US" sz="1050" dirty="0">
              <a:solidFill>
                <a:srgbClr val="2C3F39"/>
              </a:solidFill>
            </a:endParaRPr>
          </a:p>
          <a:p>
            <a:pPr marL="0" indent="0" algn="l">
              <a:buNone/>
            </a:pP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58368" y="4279392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535424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44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4407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67258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upcoming weather threaten the crop or delay operations?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281928" y="1993392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2249424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258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2121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health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238658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an early symptom a sign of disease or pest damage?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281928" y="3136392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3392424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401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3264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timing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352958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the farmer sell now or wait for a better price?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58368" y="5623560"/>
            <a:ext cx="10652760" cy="475488"/>
          </a:xfrm>
          <a:prstGeom prst="roundRect">
            <a:avLst>
              <a:gd name="adj" fmla="val 11538"/>
            </a:avLst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74243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WRONG DECISION CAN COST WATER, YIELD, TIME AND INCOME.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6042" y="-320840"/>
            <a:ext cx="12192000" cy="384048"/>
          </a:xfrm>
          <a:prstGeom prst="rect">
            <a:avLst/>
          </a:prstGeom>
          <a:solidFill>
            <a:srgbClr val="185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851192"/>
            <a:ext cx="43193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rPr lang="en-IN" dirty="0"/>
              <a:t>Our Working Model Screenshots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42358" y="1773936"/>
            <a:ext cx="3193964" cy="16824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2971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64748B"/>
                </a:solidFill>
              </a:defRPr>
            </a:pPr>
            <a:r>
              <a:rPr dirty="0"/>
              <a:t>INSERT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F2937"/>
                </a:solidFill>
              </a:defRPr>
            </a:pPr>
            <a:r>
              <a:t>FARM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F2937"/>
                </a:solidFill>
              </a:defRPr>
            </a:pPr>
            <a:r>
              <a:t>WEATHER + IRRIGATION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0080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KISAN MITRA  •  RICR-HIM-1106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15C6F65-5CF0-A8D0-A8A1-7392F8383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58" y="1758622"/>
            <a:ext cx="3220042" cy="174353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CDBCB1E-360B-EB9F-BB2D-06D0FA8DD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758622"/>
            <a:ext cx="3429000" cy="174353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61675C4-9288-01BE-395A-3AB6A8B43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787767"/>
            <a:ext cx="3429000" cy="16548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03AD056-8D29-3979-EA09-A6C1C5445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718" y="3766443"/>
            <a:ext cx="3429000" cy="172430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C9BF286-A4E3-68E3-C1CD-2F5307193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359" y="3749040"/>
            <a:ext cx="3220042" cy="173417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36B1510-32DE-4FC5-28E3-538158000B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750546"/>
            <a:ext cx="3322320" cy="1756099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90E8BDA-3652-FEE6-4F81-B2F795EC3EDD}"/>
              </a:ext>
            </a:extLst>
          </p:cNvPr>
          <p:cNvSpPr/>
          <p:nvPr/>
        </p:nvSpPr>
        <p:spPr>
          <a:xfrm>
            <a:off x="658368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02- Live Website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00634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047" y="0"/>
            <a:ext cx="12191695" cy="685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454052" cy="2277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457A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 — THE CORE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3243"/>
            <a:ext cx="107899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124839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One Decision Engine connects the farm’s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4732"/>
            <a:ext cx="101498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7797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same farm profile gives context to weather, crop health and market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786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713232" y="2176272"/>
            <a:ext cx="420624" cy="420624"/>
          </a:xfrm>
          <a:prstGeom prst="ellipse">
            <a:avLst/>
          </a:prstGeom>
          <a:solidFill>
            <a:srgbClr val="25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42062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76272"/>
            <a:ext cx="1618487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24839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FARM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24328"/>
            <a:ext cx="1618487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00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C3F3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Location • land • soil • crop • growth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965960"/>
            <a:ext cx="25786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621024" y="2176272"/>
            <a:ext cx="420624" cy="420624"/>
          </a:xfrm>
          <a:prstGeom prst="ellipse">
            <a:avLst/>
          </a:prstGeom>
          <a:solidFill>
            <a:srgbClr val="4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1024" y="2212848"/>
            <a:ext cx="42062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4" y="2176272"/>
            <a:ext cx="1618487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24839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WEATHER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2624328"/>
            <a:ext cx="1618487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00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C3F3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Rainfall • temperature • humidity • wind • 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965960"/>
            <a:ext cx="25786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528816" y="2176272"/>
            <a:ext cx="420624" cy="420624"/>
          </a:xfrm>
          <a:prstGeom prst="ellipse">
            <a:avLst/>
          </a:prstGeom>
          <a:solidFill>
            <a:srgbClr val="CB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28816" y="2212848"/>
            <a:ext cx="42062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2176272"/>
            <a:ext cx="1618487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24839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CROP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2624328"/>
            <a:ext cx="1618487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00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C3F3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Leaf image • observations • AI screening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1965960"/>
            <a:ext cx="25786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436608" y="2176272"/>
            <a:ext cx="420624" cy="420624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36608" y="2212848"/>
            <a:ext cx="42062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176272"/>
            <a:ext cx="1618487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24839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2624328"/>
            <a:ext cx="1618487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00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C3F3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Mandi prices • 7-day / 30-day trend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730752"/>
            <a:ext cx="3703320" cy="1078992"/>
          </a:xfrm>
          <a:prstGeom prst="roundRect">
            <a:avLst/>
          </a:prstGeom>
          <a:solidFill>
            <a:srgbClr val="14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457A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07408" y="4087368"/>
            <a:ext cx="33832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DECISION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285232"/>
            <a:ext cx="25420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41247" y="5486400"/>
            <a:ext cx="347472" cy="347472"/>
          </a:xfrm>
          <a:prstGeom prst="ellipse">
            <a:avLst/>
          </a:prstGeom>
          <a:solidFill>
            <a:srgbClr val="25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47" y="5568696"/>
            <a:ext cx="34747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5431536"/>
            <a:ext cx="170078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24839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IRRIGATION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715000"/>
            <a:ext cx="170078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7797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Delay / irrigate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11296" y="5285232"/>
            <a:ext cx="25420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694176" y="5486400"/>
            <a:ext cx="347472" cy="347472"/>
          </a:xfrm>
          <a:prstGeom prst="ellipse">
            <a:avLst/>
          </a:prstGeom>
          <a:solidFill>
            <a:srgbClr val="CB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94176" y="5568696"/>
            <a:ext cx="34747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1376" y="5431536"/>
            <a:ext cx="170078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24839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RISK ALERTS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51376" y="5715000"/>
            <a:ext cx="170078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7797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Low / medium / 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64224" y="5285232"/>
            <a:ext cx="25420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547104" y="5486400"/>
            <a:ext cx="347472" cy="347472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47104" y="5568696"/>
            <a:ext cx="34747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4304" y="5431536"/>
            <a:ext cx="170078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24839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SELL / HOLD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04304" y="5715000"/>
            <a:ext cx="170078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7797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Rising / stable / falling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7152" y="5285232"/>
            <a:ext cx="25420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9400032" y="5486400"/>
            <a:ext cx="347472" cy="347472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400032" y="5568696"/>
            <a:ext cx="34747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431536"/>
            <a:ext cx="170078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24839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TODAY’S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7232" y="5715000"/>
            <a:ext cx="170078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7797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Prioritized next steps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783080" y="3127248"/>
            <a:ext cx="4325112" cy="603504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90872" y="3127248"/>
            <a:ext cx="1417320" cy="603504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108192" y="3127248"/>
            <a:ext cx="1490472" cy="603504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6108192" y="3127248"/>
            <a:ext cx="4398264" cy="603504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920240" y="4809744"/>
            <a:ext cx="4187952" cy="475488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773168" y="4809744"/>
            <a:ext cx="1335024" cy="475488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108192" y="4809744"/>
            <a:ext cx="1517904" cy="475488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108192" y="4809744"/>
            <a:ext cx="4370832" cy="475488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67797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KISAN MITRA  •  RICR-HIM-1106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67797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C8432D5-4744-30E0-6BB3-50D0E2FAB3DC}"/>
              </a:ext>
            </a:extLst>
          </p:cNvPr>
          <p:cNvSpPr/>
          <p:nvPr/>
        </p:nvSpPr>
        <p:spPr>
          <a:xfrm>
            <a:off x="-16042" y="-320840"/>
            <a:ext cx="12192000" cy="384048"/>
          </a:xfrm>
          <a:prstGeom prst="rect">
            <a:avLst/>
          </a:prstGeom>
          <a:solidFill>
            <a:srgbClr val="185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— CORE PRODUCT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modules. One farmer-facing decision layer.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feature contributes a signal; the dashboard translates signals into practical next steps.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50749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66544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16736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+ IRRIGATION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weather data → irrigation guidance and risk alerts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4681728" cy="310896"/>
          </a:xfrm>
          <a:prstGeom prst="roundRect">
            <a:avLst>
              <a:gd name="adj" fmla="val 14706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026664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Don’t irrigate today — rain is expected.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17920" y="1901952"/>
            <a:ext cx="50749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2512" y="2066544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7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CROP HEALTH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2512" y="2450592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 image + observations → possible issue, confidence and severity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382512" y="2971800"/>
            <a:ext cx="4681728" cy="310896"/>
          </a:xfrm>
          <a:prstGeom prst="roundRect">
            <a:avLst>
              <a:gd name="adj" fmla="val 14706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3026664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D7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Possible fungal issue • 78% confidence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58368" y="3803904"/>
            <a:ext cx="50749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68496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995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16736" y="3959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PRICE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352544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crop prices → 7-day / 30-day trend and sell / hold signal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822960" y="4873752"/>
            <a:ext cx="4681728" cy="310896"/>
          </a:xfrm>
          <a:prstGeom prst="roundRect">
            <a:avLst>
              <a:gd name="adj" fmla="val 14706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928616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Price trend is rising — monitor before selling.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217920" y="3803904"/>
            <a:ext cx="50749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82512" y="3968496"/>
            <a:ext cx="365760" cy="292608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3995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76288" y="3959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2512" y="4352544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status + alerts + health + market in one place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6382512" y="4873752"/>
            <a:ext cx="4681728" cy="310896"/>
          </a:xfrm>
          <a:prstGeom prst="roundRect">
            <a:avLst>
              <a:gd name="adj" fmla="val 14706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4928616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What do I need to act on today?</a:t>
            </a:r>
            <a:endParaRPr lang="en-US" sz="98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rapid development and straightforward deployment.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246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+ routing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70832" y="1847088"/>
            <a:ext cx="3246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5424" y="20116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35424" y="230428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Express.js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 (Python)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292608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logic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83296" y="1847088"/>
            <a:ext cx="3246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47888" y="20116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47888" y="230428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47888" y="292608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storage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547872"/>
            <a:ext cx="3246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71246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00507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Open-Meteo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6268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70832" y="3547872"/>
            <a:ext cx="3246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35424" y="371246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35424" y="400507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35424" y="46268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login / sessions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83296" y="3547872"/>
            <a:ext cx="3246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47888" y="371246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STYLING + HOSTING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47888" y="400507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CSS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Netlify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Railway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47888" y="46268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UI + deployment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" y="5413248"/>
            <a:ext cx="10652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5595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74520" y="5532120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UI • persistent database • external API integration • modular decision engines • deployable full-stack app</a:t>
            </a:r>
            <a:endParaRPr lang="en-US" sz="10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— DEMO JOURNEY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farmer can move from setup to action in a few steps.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directly covers the core workflow described in the challenge: profile → weather → crop health → market → 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579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14984" y="2340864"/>
            <a:ext cx="1362456" cy="0"/>
          </a:xfrm>
          <a:prstGeom prst="line">
            <a:avLst/>
          </a:prstGeom>
          <a:noFill/>
          <a:ln w="19050">
            <a:solidFill>
              <a:srgbClr val="1457A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76072" y="27432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UP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309067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account + farm profile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9736" y="2148840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9736" y="21579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2340864"/>
            <a:ext cx="1362456" cy="0"/>
          </a:xfrm>
          <a:prstGeom prst="line">
            <a:avLst/>
          </a:prstGeom>
          <a:noFill/>
          <a:ln w="19050">
            <a:solidFill>
              <a:srgbClr val="1457A6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441448" y="27432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WEATHER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41448" y="309067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forecast signals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25112" y="2148840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21579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45736" y="2340864"/>
            <a:ext cx="1362456" cy="0"/>
          </a:xfrm>
          <a:prstGeom prst="line">
            <a:avLst/>
          </a:prstGeom>
          <a:noFill/>
          <a:ln w="19050">
            <a:solidFill>
              <a:srgbClr val="1457A6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4306824" y="27432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06824" y="309067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Irrigation + risk engines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90488" y="2148840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1579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1112" y="2340864"/>
            <a:ext cx="1362456" cy="0"/>
          </a:xfrm>
          <a:prstGeom prst="line">
            <a:avLst/>
          </a:prstGeom>
          <a:noFill/>
          <a:ln w="19050">
            <a:solidFill>
              <a:srgbClr val="1457A6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6172200" y="27432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CROP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309067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leaf image for screening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55864" y="2148840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5864" y="21579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76488" y="2340864"/>
            <a:ext cx="1362456" cy="0"/>
          </a:xfrm>
          <a:prstGeom prst="line">
            <a:avLst/>
          </a:prstGeom>
          <a:noFill/>
          <a:ln w="19050">
            <a:solidFill>
              <a:srgbClr val="1457A6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8037576" y="27432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MARKET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37576" y="309067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wheat trend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921240" y="2148840"/>
            <a:ext cx="384048" cy="384048"/>
          </a:xfrm>
          <a:prstGeom prst="ellipse">
            <a:avLst/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1240" y="21579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02952" y="27432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02952" y="309067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today’s prioritized actions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97280" y="4444304"/>
            <a:ext cx="9646920" cy="1115568"/>
          </a:xfrm>
          <a:prstGeom prst="roundRect">
            <a:avLst>
              <a:gd name="adj" fmla="val 6557"/>
            </a:avLst>
          </a:prstGeom>
          <a:solidFill>
            <a:srgbClr val="1457A6"/>
          </a:solidFill>
          <a:ln w="12700">
            <a:solidFill>
              <a:srgbClr val="1457A6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389888" y="4553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FARM ACTIONS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389888" y="4873752"/>
            <a:ext cx="9070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irrigation  •  Inspect crop health  •  Monitor wheat prices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89888" y="5266944"/>
            <a:ext cx="9070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screen. Three signals. One prioritized next step.</a:t>
            </a:r>
            <a:endParaRPr lang="en-US" sz="10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— IMPACT + FUTURE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farming decisions clearer, earlier and more actionable.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 targets the decision gap identified in the problem statement — not just the data gap.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2461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299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irrigation timing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avoidable watering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847088"/>
            <a:ext cx="32461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5424" y="20299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35424" y="23774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crop-risk signals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inspection and response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1847088"/>
            <a:ext cx="32461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algn="bl" rotWithShape="0">
              <a:srgbClr val="AAB7C4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47888" y="20299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47888" y="23774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sell / hold context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47888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market trends with farm context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251960"/>
            <a:ext cx="384048" cy="384048"/>
          </a:xfrm>
          <a:prstGeom prst="ellipse">
            <a:avLst/>
          </a:prstGeom>
          <a:solidFill>
            <a:srgbClr val="1D7A5B"/>
          </a:solidFill>
          <a:ln w="12700">
            <a:solidFill>
              <a:srgbClr val="1D7A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611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42611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recommendation engine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70832" y="4251960"/>
            <a:ext cx="384048" cy="384048"/>
          </a:xfrm>
          <a:prstGeom prst="ellipse">
            <a:avLst/>
          </a:prstGeom>
          <a:solidFill>
            <a:srgbClr val="1D7A5B"/>
          </a:solidFill>
          <a:ln w="12700">
            <a:solidFill>
              <a:srgbClr val="1D7A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42611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42611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+ regional languages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83296" y="4251960"/>
            <a:ext cx="384048" cy="384048"/>
          </a:xfrm>
          <a:prstGeom prst="ellipse">
            <a:avLst/>
          </a:prstGeom>
          <a:solidFill>
            <a:srgbClr val="1D7A5B"/>
          </a:solidFill>
          <a:ln w="12700">
            <a:solidFill>
              <a:srgbClr val="1D7A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83296" y="42611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86216" y="42611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pest / disease alerts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4937760"/>
            <a:ext cx="384048" cy="384048"/>
          </a:xfrm>
          <a:prstGeom prst="ellipse">
            <a:avLst/>
          </a:prstGeom>
          <a:solidFill>
            <a:srgbClr val="1D7A5B"/>
          </a:solidFill>
          <a:ln w="12700">
            <a:solidFill>
              <a:srgbClr val="1D7A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9469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49469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Fertilizer &amp; resource planning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70832" y="4937760"/>
            <a:ext cx="384048" cy="384048"/>
          </a:xfrm>
          <a:prstGeom prst="ellipse">
            <a:avLst/>
          </a:prstGeom>
          <a:solidFill>
            <a:srgbClr val="1D7A5B"/>
          </a:solidFill>
          <a:ln w="12700">
            <a:solidFill>
              <a:srgbClr val="1D7A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49469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3752" y="49469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prediction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83296" y="4937760"/>
            <a:ext cx="384048" cy="384048"/>
          </a:xfrm>
          <a:prstGeom prst="ellipse">
            <a:avLst/>
          </a:prstGeom>
          <a:solidFill>
            <a:srgbClr val="1D7A5B"/>
          </a:solidFill>
          <a:ln w="12700">
            <a:solidFill>
              <a:srgbClr val="1D7A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3296" y="49469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86216" y="49469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 support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" y="5623560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7424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 →  INTELLIGENCE  →  ACTION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730</Words>
  <Application>Microsoft Office PowerPoint</Application>
  <PresentationFormat>Widescreen</PresentationFormat>
  <Paragraphs>190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Kisan Mitra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 Mitra — Smart Farm Decision Support System</dc:title>
  <dc:subject>Smart Farm Decision Support System</dc:subject>
  <dc:creator>Kisan Mitra</dc:creator>
  <cp:lastModifiedBy>HIMANI</cp:lastModifiedBy>
  <cp:revision>4</cp:revision>
  <dcterms:created xsi:type="dcterms:W3CDTF">2026-08-14T14:43:26Z</dcterms:created>
  <dcterms:modified xsi:type="dcterms:W3CDTF">2026-08-14T15:25:27Z</dcterms:modified>
</cp:coreProperties>
</file>